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 of this review: walk the EA through the orchestration service design, the four structural decisions (REST handoff, Postgres work queue, journalId gating, client-level sequencer), the failure model, and the items where we need a ruling.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problem: this is a coexistence bridge for the migration period. Emphasize the two invariants: journalId as proof of lake ingestion, and the always-9-schemas hydration rule.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heart of the review. D1 and D2 remove the broker; D3 and D4 are the correctness spine. Ask the EA to challenge each trade-off explicitly.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broker anywhere. Every hop is REST; every internal hand-off is a Postgres job. Point out that the dashboard reads the same tables that run the pipeline — no separate tracking store to drift.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six stages. Stress step 1's durable-202 boundary and step 5's independent legs — a CBS-A outage never delays the v1 lake publish.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answers the requirement 'retrieve all 9 irrespective of what was published'. The provenance tag per schema makes the behavior auditable per case.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Strict-serial per client, parallel across clients — throughput unaffected since parallelism in this workload is across clients. The failed-event-blocks-queue policy is a business decision; flagged on the decisions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point for EA: retries are stage-local and never re-execute completed stages. Permanent (data) errors fail fast by design — retrying a deterministic failure is noise.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resilience contract in one table. Invite the EA to add scenarios — anything not on this list should be, and each must land in one of: no loss / blocked safely / ordered.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Single source of truth: the dashboard reads the operational tables directly — no drift between what runs and what's shown. journalId search is the fastest route from a lake-side question to a case.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Batch check #1 is the safety net for the REST handoff (replaces broker durability). Recon lake calls are rate-limited so recon never degrades the hot path; the window overlaps to absorb late confirmations.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Operational footprint is deliberately small: LB, two VMs, Postgres. Health checks include a DB probe since the DB is the backbone. Security: OAuth2/mTLS on the ingestion API (only inbound door) + LB IP allow-listing; PII encrypted at rest, role-masked in the dashboard; audit append-only.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assigning owners and dates to each confirmation. The failed-event policy and DEFAULTED structures are business decisions dressed as technical defaults — they need explicit sign-off.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8321040" y="640080"/>
            <a:ext cx="384048" cy="384048"/>
          </a:xfrm>
          <a:prstGeom prst="ellipse">
            <a:avLst/>
          </a:prstGeom>
          <a:solidFill>
            <a:srgbClr val="2A3780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05088" y="832104"/>
            <a:ext cx="347472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052560" y="640080"/>
            <a:ext cx="384048" cy="384048"/>
          </a:xfrm>
          <a:prstGeom prst="ellipse">
            <a:avLst/>
          </a:prstGeom>
          <a:solidFill>
            <a:srgbClr val="2A3780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436608" y="832104"/>
            <a:ext cx="347472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784080" y="640080"/>
            <a:ext cx="384048" cy="384048"/>
          </a:xfrm>
          <a:prstGeom prst="ellipse">
            <a:avLst/>
          </a:prstGeom>
          <a:solidFill>
            <a:srgbClr val="2A3780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68128" y="832104"/>
            <a:ext cx="347472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15600" y="640080"/>
            <a:ext cx="384048" cy="384048"/>
          </a:xfrm>
          <a:prstGeom prst="ellipse">
            <a:avLst/>
          </a:prstGeom>
          <a:solidFill>
            <a:srgbClr val="2A3780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99648" y="832104"/>
            <a:ext cx="347472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47120" y="640080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182880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Onboarding Migration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31520" y="2286000"/>
            <a:ext cx="10698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v2 → Data Lake → v1 Conversion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Orchestration Service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Low-Level Architecture — Enterprise Architecture Review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31520" y="58064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v1.3  ·  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· PostgreSQL · REST · React  ·  </a:t>
            </a:r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Broker-free by decision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&amp; Scope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96112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Coexistence bridge between Onboarding v2, the Central Data Lake, legacy v1 consumers, and CBS-A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444752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4401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1417320"/>
            <a:ext cx="50292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— </a:t>
            </a:r>
            <a:pPr indent="0" marL="0"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v2 approves a case (onboard or modify) and hands it to an independent Orchestration Service — its responsibility ends at a durable acknowledgement.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2615184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6106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2587752"/>
            <a:ext cx="50292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v2.1 — </a:t>
            </a:r>
            <a:pPr indent="0" marL="0"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9 schemas per case (schemaName → JSON) are ingested into the Central Data Lake; the lake returns a journalId per successful ingestion — our proof of record.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3785616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7810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3758184"/>
            <a:ext cx="50292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ALL 9 — </a:t>
            </a:r>
            <a:pPr indent="0" marL="0"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always operates on the full set of 9 schemas, hydrating any not present in the triggering message from the lake's current state (or approved defaults).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4956048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9514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0120" y="4928616"/>
            <a:ext cx="50292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&amp; fan out — </a:t>
            </a:r>
            <a:pPr indent="0" marL="0"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v2.1 schemas become 13 v1 schemas; v1 goes back to the lake while CBS-A is fed in parallel on an independent leg.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02920" y="6035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scope: </a:t>
            </a:r>
            <a:pPr indent="0" marL="0">
              <a:buNone/>
            </a:pPr>
            <a:r>
              <a:rPr lang="en-US" sz="11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field-level mapping rules (pluggable Conversion Engine), approval workflow internals, Data Lake internals.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0" y="1463040"/>
            <a:ext cx="5257800" cy="2880360"/>
          </a:xfrm>
          <a:prstGeom prst="roundRect">
            <a:avLst>
              <a:gd name="adj" fmla="val 1905"/>
            </a:avLst>
          </a:prstGeom>
          <a:solidFill>
            <a:srgbClr val="E8F0FE"/>
          </a:solidFill>
          <a:ln w="12700">
            <a:solidFill>
              <a:srgbClr val="D4DC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75120" y="1783080"/>
            <a:ext cx="1371600" cy="54864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29984" y="1783080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v2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046720" y="2057400"/>
            <a:ext cx="411480" cy="0"/>
          </a:xfrm>
          <a:prstGeom prst="line">
            <a:avLst/>
          </a:prstGeom>
          <a:noFill/>
          <a:ln w="22225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458200" y="1783080"/>
            <a:ext cx="1554480" cy="548640"/>
          </a:xfrm>
          <a:prstGeom prst="roundRect">
            <a:avLst>
              <a:gd name="adj" fmla="val 10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13064" y="1783080"/>
            <a:ext cx="1444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0012680" y="2057400"/>
            <a:ext cx="411480" cy="0"/>
          </a:xfrm>
          <a:prstGeom prst="line">
            <a:avLst/>
          </a:prstGeom>
          <a:noFill/>
          <a:ln w="22225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10424160" y="1783080"/>
            <a:ext cx="960120" cy="54864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479024" y="1783080"/>
            <a:ext cx="850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v2.1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0899648" y="2331720"/>
            <a:ext cx="0" cy="502920"/>
          </a:xfrm>
          <a:prstGeom prst="line">
            <a:avLst/>
          </a:prstGeom>
          <a:noFill/>
          <a:ln w="22225">
            <a:solidFill>
              <a:srgbClr val="1E2761"/>
            </a:solidFill>
            <a:prstDash val="dash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9144000" y="24414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all 9 + journalId check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458200" y="2834640"/>
            <a:ext cx="1554480" cy="548640"/>
          </a:xfrm>
          <a:prstGeom prst="roundRect">
            <a:avLst>
              <a:gd name="adj" fmla="val 10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13064" y="2834640"/>
            <a:ext cx="1444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9 → 13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 flipH="1">
            <a:off x="10012680" y="3108960"/>
            <a:ext cx="411480" cy="0"/>
          </a:xfrm>
          <a:prstGeom prst="line">
            <a:avLst/>
          </a:prstGeom>
          <a:noFill/>
          <a:ln w="22225">
            <a:solidFill>
              <a:srgbClr val="1E2761"/>
            </a:solidFill>
            <a:prstDash val="dash"/>
            <a:tailEnd type="triangle"/>
          </a:ln>
        </p:spPr>
      </p:sp>
      <p:sp>
        <p:nvSpPr>
          <p:cNvPr id="31" name="Shape 29"/>
          <p:cNvSpPr/>
          <p:nvPr/>
        </p:nvSpPr>
        <p:spPr>
          <a:xfrm flipH="1">
            <a:off x="7635240" y="3108960"/>
            <a:ext cx="822960" cy="0"/>
          </a:xfrm>
          <a:prstGeom prst="line">
            <a:avLst/>
          </a:prstGeom>
          <a:noFill/>
          <a:ln w="22225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6675120" y="2834640"/>
            <a:ext cx="960120" cy="54864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29984" y="2834640"/>
            <a:ext cx="850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 v1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9235440" y="3383280"/>
            <a:ext cx="0" cy="411480"/>
          </a:xfrm>
          <a:prstGeom prst="line">
            <a:avLst/>
          </a:prstGeom>
          <a:noFill/>
          <a:ln w="22225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8458200" y="3794760"/>
            <a:ext cx="1554480" cy="502920"/>
          </a:xfrm>
          <a:prstGeom prst="roundRect">
            <a:avLst>
              <a:gd name="adj" fmla="val 10909"/>
            </a:avLst>
          </a:prstGeom>
          <a:solidFill>
            <a:srgbClr val="2A3780"/>
          </a:solidFill>
          <a:ln w="12700">
            <a:solidFill>
              <a:srgbClr val="2A378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513064" y="3794760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CBS-A (parallel)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400800" y="4617720"/>
            <a:ext cx="1673352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4DCEC"/>
            </a:solidFill>
            <a:prstDash val="solid"/>
          </a:ln>
          <a:effectLst>
            <a:outerShdw sx="100000" sy="100000" kx="0" ky="0" algn="bl" rotWithShape="0" blurRad="76200" dist="25400" dir="5400000">
              <a:srgbClr val="222A44">
                <a:alpha val="2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400800" y="4681728"/>
            <a:ext cx="1673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4000" dirty="0"/>
          </a:p>
        </p:txBody>
      </p:sp>
      <p:sp>
        <p:nvSpPr>
          <p:cNvPr id="39" name="Text 37"/>
          <p:cNvSpPr/>
          <p:nvPr/>
        </p:nvSpPr>
        <p:spPr>
          <a:xfrm>
            <a:off x="6473952" y="5440680"/>
            <a:ext cx="1527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v2.1 schemas in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8193024" y="4617720"/>
            <a:ext cx="1673352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4DCEC"/>
            </a:solidFill>
            <a:prstDash val="solid"/>
          </a:ln>
          <a:effectLst>
            <a:outerShdw sx="100000" sy="100000" kx="0" ky="0" algn="bl" rotWithShape="0" blurRad="76200" dist="25400" dir="5400000">
              <a:srgbClr val="222A44">
                <a:alpha val="2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8193024" y="4681728"/>
            <a:ext cx="1673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4000" dirty="0"/>
          </a:p>
        </p:txBody>
      </p:sp>
      <p:sp>
        <p:nvSpPr>
          <p:cNvPr id="42" name="Text 40"/>
          <p:cNvSpPr/>
          <p:nvPr/>
        </p:nvSpPr>
        <p:spPr>
          <a:xfrm>
            <a:off x="8266176" y="5440680"/>
            <a:ext cx="1527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schemas out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9985248" y="4617720"/>
            <a:ext cx="1673352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4DCEC"/>
            </a:solidFill>
            <a:prstDash val="solid"/>
          </a:ln>
          <a:effectLst>
            <a:outerShdw sx="100000" sy="100000" kx="0" ky="0" algn="bl" rotWithShape="0" blurRad="76200" dist="25400" dir="5400000">
              <a:srgbClr val="222A44">
                <a:alpha val="25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9985248" y="4681728"/>
            <a:ext cx="1673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77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1+1</a:t>
            </a:r>
            <a:endParaRPr lang="en-US" sz="4000" dirty="0"/>
          </a:p>
        </p:txBody>
      </p:sp>
      <p:sp>
        <p:nvSpPr>
          <p:cNvPr id="45" name="Text 43"/>
          <p:cNvSpPr/>
          <p:nvPr/>
        </p:nvSpPr>
        <p:spPr>
          <a:xfrm>
            <a:off x="10058400" y="5440680"/>
            <a:ext cx="1527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legs: Lake v1 ∥ CBS-A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v2→v1 Orchestration · Architecture Review · v1.3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Architecture Decisions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96112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 summary — each decision, why, and the trade-off we accepted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11201400" cy="914400"/>
        </p:xfrm>
        <a:graphic>
          <a:graphicData uri="http://schemas.openxmlformats.org/drawingml/2006/table">
            <a:tbl>
              <a:tblPr/>
              <a:tblGrid>
                <a:gridCol w="3246120"/>
                <a:gridCol w="4663440"/>
                <a:gridCol w="329184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Rationale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Trade-off accepted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 · No message broker — REST handoff from Onboarding with Idempotency-Key + durable 202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Available Kafka (community, multi-partition) gives no trusted per-key FIFO; durability is achieved at the acceptance boundary (commit to Postgres before 202) + caller retry-until-202.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Caller must implement retry contract; recon check #1 (approved-case manifest diff) is the safety net.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D2 · Postgres work queue for ALL internal orchestration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SKIP LOCKED job table gives durable hand-offs, per-stage backoff retries, dead-lettering, multi-instance safety — fully queryable, one less system to operate.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partition fan-out for extreme throughput — irrelevant at onboarding volumes (low rate, high value).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D3 · journalId gates every stage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Lake-issued journalId is the contract of ingestion: no journalId ⇒ no progress. Same key anchors hydration verification and reconciliation on both legs (9 in / 13 out).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Strict: a missing journal dead-letters rather than proceeding — cases hold until lake confirms.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D4 · Client-level sequencer in the orchestrator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rule: per client, event N must fully complete before N+1 starts — across cases. Only the orchestrator knows true terminality (retries, dead-letters, ops replays).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failed event holds that client's queue until ops resolve — deliberate, per the ordering rule.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D5 · Conversion Engine is a pluggable, versioned component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9→13 mapping rules evolve independently; conversionRuleVersion stamped per case keeps history explainable.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 errors are permanent failures: dead-letter, fix, replay — never silent retry.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t">
                    <a:lnL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v2→v1 Orchestration · Architecture Review · v1.3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96112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deployable, six stage workers, Postgres as backbone — REST at every boundary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2103120"/>
            <a:ext cx="1691640" cy="13716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25400" dir="5400000">
              <a:srgbClr val="222A44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57784" y="2103120"/>
            <a:ext cx="15819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v2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6118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until 202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Idempotency-Key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0" y="1371600"/>
            <a:ext cx="5852160" cy="4846320"/>
          </a:xfrm>
          <a:prstGeom prst="roundRect">
            <a:avLst>
              <a:gd name="adj" fmla="val 1132"/>
            </a:avLst>
          </a:prstGeom>
          <a:solidFill>
            <a:srgbClr val="E8F0FE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0" y="14813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SERVICE  ·  Spring Boot (≥2 VM instances, active-active)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71800" y="1874520"/>
            <a:ext cx="2606040" cy="777240"/>
          </a:xfrm>
          <a:prstGeom prst="roundRect">
            <a:avLst>
              <a:gd name="adj" fmla="val 7059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26664" y="1874520"/>
            <a:ext cx="24963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[A] Ingestion API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Validator + Client Sequencer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971800" y="2788920"/>
            <a:ext cx="1783080" cy="54864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26664" y="2788920"/>
            <a:ext cx="1673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Lake Publisher v2.1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864608" y="2788920"/>
            <a:ext cx="1783080" cy="54864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9472" y="2788920"/>
            <a:ext cx="1673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 Journal Confirmer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971800" y="3447288"/>
            <a:ext cx="1783080" cy="54864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26664" y="3447288"/>
            <a:ext cx="1673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 Hydrator (ALL 9)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864608" y="3447288"/>
            <a:ext cx="1783080" cy="54864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9472" y="3447288"/>
            <a:ext cx="1673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B4 Conversion 9 → 13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971800" y="4105656"/>
            <a:ext cx="1783080" cy="54864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26664" y="4105656"/>
            <a:ext cx="1673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B5 Lake Publisher v1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864608" y="4105656"/>
            <a:ext cx="1783080" cy="54864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9472" y="4105656"/>
            <a:ext cx="1673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B6 CBS-A Publisher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971800" y="477316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workers poll jobs · FOR UPDATE SKIP LOCKED · lease + reaper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812280" y="1874520"/>
            <a:ext cx="1645920" cy="640080"/>
          </a:xfrm>
          <a:prstGeom prst="roundRect">
            <a:avLst>
              <a:gd name="adj" fmla="val 8571"/>
            </a:avLst>
          </a:prstGeom>
          <a:solidFill>
            <a:srgbClr val="2A3780"/>
          </a:solidFill>
          <a:ln w="12700">
            <a:solidFill>
              <a:srgbClr val="2A37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67144" y="1874520"/>
            <a:ext cx="1536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[C] State Machine + Audit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812280" y="2624328"/>
            <a:ext cx="1645920" cy="640080"/>
          </a:xfrm>
          <a:prstGeom prst="roundRect">
            <a:avLst>
              <a:gd name="adj" fmla="val 8571"/>
            </a:avLst>
          </a:prstGeom>
          <a:solidFill>
            <a:srgbClr val="2A3780"/>
          </a:solidFill>
          <a:ln w="12700">
            <a:solidFill>
              <a:srgbClr val="2A378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67144" y="2624328"/>
            <a:ext cx="1536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[D] Retry / Dead-letter Mgr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812280" y="3374136"/>
            <a:ext cx="1645920" cy="914400"/>
          </a:xfrm>
          <a:prstGeom prst="roundRect">
            <a:avLst>
              <a:gd name="adj" fmla="val 6000"/>
            </a:avLst>
          </a:prstGeom>
          <a:solidFill>
            <a:srgbClr val="2A3780"/>
          </a:solidFill>
          <a:ln w="12700">
            <a:solidFill>
              <a:srgbClr val="2A378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67144" y="3374136"/>
            <a:ext cx="15361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[E] Recon · Stuck-state · Sequencer schedulers (ShedLock)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812280" y="4398264"/>
            <a:ext cx="1645920" cy="640080"/>
          </a:xfrm>
          <a:prstGeom prst="roundRect">
            <a:avLst>
              <a:gd name="adj" fmla="val 8571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67144" y="4398264"/>
            <a:ext cx="1536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[F] Ops API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971800" y="5212080"/>
            <a:ext cx="54864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25400" dir="5400000">
              <a:srgbClr val="222A44">
                <a:alpha val="2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154680" y="521208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15 — the backbone:  </a:t>
            </a:r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machine · work queue · lake_journal lineage · dead letters · audit · recon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9464040" y="1737360"/>
            <a:ext cx="2148840" cy="1554480"/>
          </a:xfrm>
          <a:prstGeom prst="roundRect">
            <a:avLst>
              <a:gd name="adj" fmla="val 35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25400" dir="5400000">
              <a:srgbClr val="222A44">
                <a:alpha val="2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9555480" y="1783080"/>
            <a:ext cx="1965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Data Lake
</a:t>
            </a:r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API → journalId</a:t>
            </a:r>
            <a:endParaRPr lang="en-US" sz="12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read/query API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9464040" y="3749040"/>
            <a:ext cx="2148840" cy="914400"/>
          </a:xfrm>
          <a:prstGeom prst="roundRect">
            <a:avLst>
              <a:gd name="adj" fmla="val 6000"/>
            </a:avLst>
          </a:prstGeom>
          <a:solidFill>
            <a:srgbClr val="2A3780"/>
          </a:solidFill>
          <a:ln w="12700">
            <a:solidFill>
              <a:srgbClr val="2A3780"/>
            </a:solidFill>
            <a:prstDash val="solid"/>
          </a:ln>
          <a:effectLst>
            <a:outerShdw sx="100000" sy="100000" kx="0" ky="0" algn="bl" rotWithShape="0" blurRad="76200" dist="25400" dir="5400000">
              <a:srgbClr val="222A44">
                <a:alpha val="2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9518904" y="3749040"/>
            <a:ext cx="20391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Bank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9464040" y="5029200"/>
            <a:ext cx="2148840" cy="914400"/>
          </a:xfrm>
          <a:prstGeom prst="roundRect">
            <a:avLst>
              <a:gd name="adj" fmla="val 6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5400000">
              <a:srgbClr val="222A44">
                <a:alpha val="2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9518904" y="5029200"/>
            <a:ext cx="20391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Ops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2194560" y="2788920"/>
            <a:ext cx="548640" cy="0"/>
          </a:xfrm>
          <a:prstGeom prst="line">
            <a:avLst/>
          </a:prstGeom>
          <a:noFill/>
          <a:ln w="22225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41" name="Text 39"/>
          <p:cNvSpPr/>
          <p:nvPr/>
        </p:nvSpPr>
        <p:spPr>
          <a:xfrm>
            <a:off x="1234440" y="23957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POST /orchestrations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8595360" y="2286000"/>
            <a:ext cx="868680" cy="0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 flipH="1">
            <a:off x="8595360" y="2834640"/>
            <a:ext cx="868680" cy="0"/>
          </a:xfrm>
          <a:prstGeom prst="line">
            <a:avLst/>
          </a:prstGeom>
          <a:noFill/>
          <a:ln w="22225">
            <a:solidFill>
              <a:srgbClr val="1E2761"/>
            </a:solidFill>
            <a:prstDash val="dash"/>
            <a:tailEnd type="triangle"/>
          </a:ln>
        </p:spPr>
      </p:sp>
      <p:sp>
        <p:nvSpPr>
          <p:cNvPr id="44" name="Text 42"/>
          <p:cNvSpPr/>
          <p:nvPr/>
        </p:nvSpPr>
        <p:spPr>
          <a:xfrm>
            <a:off x="8549640" y="19202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ingest / read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8595360" y="4206240"/>
            <a:ext cx="868680" cy="0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 flipH="1">
            <a:off x="8595360" y="5486400"/>
            <a:ext cx="868680" cy="0"/>
          </a:xfrm>
          <a:prstGeom prst="line">
            <a:avLst/>
          </a:prstGeom>
          <a:noFill/>
          <a:ln w="22225">
            <a:solidFill>
              <a:srgbClr val="028090"/>
            </a:solidFill>
            <a:prstDash val="dash"/>
            <a:tailEnd type="triangle"/>
          </a:ln>
        </p:spPr>
      </p:sp>
      <p:sp>
        <p:nvSpPr>
          <p:cNvPr id="47" name="Text 45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v2→v1 Orchestration · Architecture Review · v1.3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Happy Path — End-to-End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96112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commits to Postgres before the next begins; journalIds gate progress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61188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4DCEC"/>
            </a:solidFill>
            <a:prstDash val="solid"/>
          </a:ln>
          <a:effectLst>
            <a:outerShdw sx="100000" sy="100000" kx="0" ky="0" algn="bl" rotWithShape="0" blurRad="76200" dist="25400" dir="5400000">
              <a:srgbClr val="222A44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04088" y="1618488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04088" y="16139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24712" y="158191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Accept &amp; sequence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22376" y="2039112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validated (JSON Schema, idempotency); case + payload + 9 journal rows committed; client sequencer gate applied; 202 returned. Durable from this instant.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0" y="2514600"/>
            <a:ext cx="210312" cy="0"/>
          </a:xfrm>
          <a:prstGeom prst="line">
            <a:avLst/>
          </a:prstGeom>
          <a:noFill/>
          <a:ln w="22225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325112" y="1417320"/>
            <a:ext cx="361188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4DCEC"/>
            </a:solidFill>
            <a:prstDash val="solid"/>
          </a:ln>
          <a:effectLst>
            <a:outerShdw sx="100000" sy="100000" kx="0" ky="0" algn="bl" rotWithShape="0" blurRad="76200" dist="25400" dir="5400000">
              <a:srgbClr val="222A44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26280" y="1618488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4526280" y="16139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46904" y="158191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Publish v2.1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44568" y="2039112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job per received schema calls lake ingest; returned journalId stored per schema. All sent schemas confirmed ⇒ LAKE_CONFIRMED.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936992" y="2514600"/>
            <a:ext cx="210312" cy="0"/>
          </a:xfrm>
          <a:prstGeom prst="line">
            <a:avLst/>
          </a:prstGeom>
          <a:noFill/>
          <a:ln w="22225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147304" y="1417320"/>
            <a:ext cx="361188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4DCEC"/>
            </a:solidFill>
            <a:prstDash val="solid"/>
          </a:ln>
          <a:effectLst>
            <a:outerShdw sx="100000" sy="100000" kx="0" ky="0" algn="bl" rotWithShape="0" blurRad="76200" dist="25400" dir="5400000">
              <a:srgbClr val="222A44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48472" y="1618488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8348472" y="16139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769096" y="158191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Hydrate ALL 9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366760" y="2039112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schemas verified in lake (served journalId = recorded); absent ones read from lake's latest state; never-seen ⇒ approved default. Always exactly 9 keys.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3840480"/>
            <a:ext cx="361188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4DCEC"/>
            </a:solidFill>
            <a:prstDash val="solid"/>
          </a:ln>
          <a:effectLst>
            <a:outerShdw sx="100000" sy="100000" kx="0" ky="0" algn="bl" rotWithShape="0" blurRad="76200" dist="25400" dir="5400000">
              <a:srgbClr val="222A44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04088" y="4041648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704088" y="40370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24712" y="400507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Convert 9 → 13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22376" y="4462272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engine produces 13 v1 payloads; each validated against its v1 schema; conversionRuleVersion audited.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114800" y="4937760"/>
            <a:ext cx="210312" cy="0"/>
          </a:xfrm>
          <a:prstGeom prst="line">
            <a:avLst/>
          </a:prstGeom>
          <a:noFill/>
          <a:ln w="22225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4325112" y="3840480"/>
            <a:ext cx="361188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4DCEC"/>
            </a:solidFill>
            <a:prstDash val="solid"/>
          </a:ln>
          <a:effectLst>
            <a:outerShdw sx="100000" sy="100000" kx="0" ky="0" algn="bl" rotWithShape="0" blurRad="76200" dist="25400" dir="5400000">
              <a:srgbClr val="222A44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26280" y="4041648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9" name="Text 27"/>
          <p:cNvSpPr/>
          <p:nvPr/>
        </p:nvSpPr>
        <p:spPr>
          <a:xfrm>
            <a:off x="4526280" y="40370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946904" y="400507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Dual publish ∥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544568" y="4462272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lake-v1 jobs + 1 CBS-A job enqueued in one transaction; legs retry independently; 13 v1 journalIds + CBS ack ⇒ COMPLETED.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936992" y="4937760"/>
            <a:ext cx="210312" cy="0"/>
          </a:xfrm>
          <a:prstGeom prst="line">
            <a:avLst/>
          </a:prstGeom>
          <a:noFill/>
          <a:ln w="22225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8147304" y="3840480"/>
            <a:ext cx="361188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4DCEC"/>
            </a:solidFill>
            <a:prstDash val="solid"/>
          </a:ln>
          <a:effectLst>
            <a:outerShdw sx="100000" sy="100000" kx="0" ky="0" algn="bl" rotWithShape="0" blurRad="76200" dist="25400" dir="5400000">
              <a:srgbClr val="222A44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348472" y="4041648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5" name="Text 33"/>
          <p:cNvSpPr/>
          <p:nvPr/>
        </p:nvSpPr>
        <p:spPr>
          <a:xfrm>
            <a:off x="8348472" y="40370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769096" y="400507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Release next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8366760" y="4462272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state atomically promotes the client's next queued event — never two live events per client.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v2→v1 Orchestration · Architecture Review · v1.3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'Always 9 Schemas' Rule — Hydration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96112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never runs on partial data; every schema's provenance is recorded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(1..9 sent)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028090"/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" y="17373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298448" y="173736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028090"/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53312" y="17373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956816" y="173736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028090"/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0" y="17373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40080" y="2395728"/>
            <a:ext cx="566928" cy="566928"/>
          </a:xfrm>
          <a:prstGeom prst="roundRect">
            <a:avLst>
              <a:gd name="adj" fmla="val 9677"/>
            </a:avLst>
          </a:prstGeom>
          <a:solidFill>
            <a:srgbClr val="028090"/>
          </a:solidFill>
          <a:ln w="15875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2395728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298448" y="2395728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5875">
            <a:solidFill>
              <a:srgbClr val="B779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53312" y="2395728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956816" y="2395728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5875">
            <a:solidFill>
              <a:srgbClr val="B7791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11680" y="2395728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40080" y="3054096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5875">
            <a:solidFill>
              <a:srgbClr val="B7791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4944" y="3054096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298448" y="3054096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5875">
            <a:solidFill>
              <a:srgbClr val="B7791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53312" y="3054096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S8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956816" y="3054096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5875">
            <a:solidFill>
              <a:srgbClr val="B7791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11680" y="3054096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S9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4864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pPr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message   </a:t>
            </a:r>
            <a:pPr indent="0" marL="0">
              <a:buNone/>
            </a:pPr>
            <a:r>
              <a:rPr lang="en-US" sz="95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</a:t>
            </a:r>
            <a:pPr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hydrated / defaulted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0" y="2651760"/>
            <a:ext cx="548640" cy="0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3337560" y="2240280"/>
            <a:ext cx="1371600" cy="868680"/>
          </a:xfrm>
          <a:prstGeom prst="roundRect">
            <a:avLst>
              <a:gd name="adj" fmla="val 631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25400" dir="5400000">
              <a:srgbClr val="222A44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392424" y="2240280"/>
            <a:ext cx="12618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09160" y="2651760"/>
            <a:ext cx="548640" cy="0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5212080" y="1371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out (always 13)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303520" y="1691640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2A3780"/>
          </a:solidFill>
          <a:ln w="12700">
            <a:solidFill>
              <a:srgbClr val="2A378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58384" y="1691640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870448" y="1691640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2A3780"/>
          </a:solidFill>
          <a:ln w="12700">
            <a:solidFill>
              <a:srgbClr val="2A378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25312" y="1691640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437376" y="1691640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2A3780"/>
          </a:solidFill>
          <a:ln w="12700">
            <a:solidFill>
              <a:srgbClr val="2A378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92240" y="1691640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7004304" y="1691640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2A3780"/>
          </a:solidFill>
          <a:ln w="12700">
            <a:solidFill>
              <a:srgbClr val="2A378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059168" y="1691640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303520" y="2258568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2A3780"/>
          </a:solidFill>
          <a:ln w="12700">
            <a:solidFill>
              <a:srgbClr val="2A378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58384" y="2258568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V5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870448" y="2258568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2A3780"/>
          </a:solidFill>
          <a:ln w="12700">
            <a:solidFill>
              <a:srgbClr val="2A378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25312" y="2258568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V6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437376" y="2258568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2A3780"/>
          </a:solidFill>
          <a:ln w="12700">
            <a:solidFill>
              <a:srgbClr val="2A378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92240" y="2258568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V7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7004304" y="2258568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2A3780"/>
          </a:solidFill>
          <a:ln w="12700">
            <a:solidFill>
              <a:srgbClr val="2A378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059168" y="2258568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V8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5303520" y="2825496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2A3780"/>
          </a:solidFill>
          <a:ln w="12700">
            <a:solidFill>
              <a:srgbClr val="2A378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58384" y="2825496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V9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5870448" y="2825496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2A3780"/>
          </a:solidFill>
          <a:ln w="12700">
            <a:solidFill>
              <a:srgbClr val="2A378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925312" y="2825496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V10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437376" y="2825496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2A3780"/>
          </a:solidFill>
          <a:ln w="12700">
            <a:solidFill>
              <a:srgbClr val="2A378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92240" y="2825496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V11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7004304" y="2825496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2A3780"/>
          </a:solidFill>
          <a:ln w="12700">
            <a:solidFill>
              <a:srgbClr val="2A378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059168" y="2825496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V12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5303520" y="3392424"/>
            <a:ext cx="475488" cy="475488"/>
          </a:xfrm>
          <a:prstGeom prst="roundRect">
            <a:avLst>
              <a:gd name="adj" fmla="val 11538"/>
            </a:avLst>
          </a:prstGeom>
          <a:solidFill>
            <a:srgbClr val="2A3780"/>
          </a:solidFill>
          <a:ln w="12700">
            <a:solidFill>
              <a:srgbClr val="2A378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358384" y="3392424"/>
            <a:ext cx="365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V13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7863840" y="1417320"/>
            <a:ext cx="379476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4DCEC"/>
            </a:solidFill>
            <a:prstDash val="solid"/>
          </a:ln>
          <a:effectLst>
            <a:outerShdw sx="100000" sy="100000" kx="0" ky="0" algn="bl" rotWithShape="0" blurRad="76200" dist="25400" dir="5400000">
              <a:srgbClr val="222A44">
                <a:alpha val="25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8028432" y="1581912"/>
            <a:ext cx="1234440" cy="347472"/>
          </a:xfrm>
          <a:prstGeom prst="roundRect">
            <a:avLst>
              <a:gd name="adj" fmla="val 15789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083296" y="1581912"/>
            <a:ext cx="1124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8046720" y="1984248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was in the request → read back from the lake and verify served journalId equals the one recorded at ingestion. Proves the round-trip actually happened.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7863840" y="2953512"/>
            <a:ext cx="379476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4DCEC"/>
            </a:solidFill>
            <a:prstDash val="solid"/>
          </a:ln>
          <a:effectLst>
            <a:outerShdw sx="100000" sy="100000" kx="0" ky="0" algn="bl" rotWithShape="0" blurRad="76200" dist="25400" dir="5400000">
              <a:srgbClr val="222A44">
                <a:alpha val="25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8028432" y="3118104"/>
            <a:ext cx="1234440" cy="347472"/>
          </a:xfrm>
          <a:prstGeom prst="roundRect">
            <a:avLst>
              <a:gd name="adj" fmla="val 1578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083296" y="3118104"/>
            <a:ext cx="1124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LAKE_QUERY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8046720" y="3520440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absent (typical MODIFY) → latest stored version fetched from the lake; its serving journalId recorded for lineage.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7863840" y="4489704"/>
            <a:ext cx="379476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4DCEC"/>
            </a:solidFill>
            <a:prstDash val="solid"/>
          </a:ln>
          <a:effectLst>
            <a:outerShdw sx="100000" sy="100000" kx="0" ky="0" algn="bl" rotWithShape="0" blurRad="76200" dist="25400" dir="5400000">
              <a:srgbClr val="222A44">
                <a:alpha val="25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8028432" y="4654296"/>
            <a:ext cx="1234440" cy="347472"/>
          </a:xfrm>
          <a:prstGeom prst="roundRect">
            <a:avLst>
              <a:gd name="adj" fmla="val 15789"/>
            </a:avLst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083296" y="4654296"/>
            <a:ext cx="1124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DEFAULTED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8046720" y="5056632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 has never held this schema for the client → business-approved default structure applied. A spike in this metric is the early-warning of upstream data gaps.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502920" y="5806440"/>
            <a:ext cx="7040880" cy="6858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31520" y="5806440"/>
            <a:ext cx="6675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Invariant: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always receives exactly 9 keys — no conversion on partial data; a missing journalId dead-letters instead of proceeding.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v2→v1 Orchestration · Architecture Review · v1.3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Client-Level Ordering — the Sequencer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96112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client: event N fully completes before N+1 starts — across cases. Enforced in the orchestrator.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11155680" cy="2057400"/>
          </a:xfrm>
          <a:prstGeom prst="roundRect">
            <a:avLst>
              <a:gd name="adj" fmla="val 2667"/>
            </a:avLst>
          </a:prstGeom>
          <a:solidFill>
            <a:srgbClr val="E8F0FE"/>
          </a:solidFill>
          <a:ln w="12700">
            <a:solidFill>
              <a:srgbClr val="D4DC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727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— two approved cases for Client 1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868680" y="3246120"/>
            <a:ext cx="10515600" cy="0"/>
          </a:xfrm>
          <a:prstGeom prst="line">
            <a:avLst/>
          </a:prstGeom>
          <a:noFill/>
          <a:ln w="22225">
            <a:solidFill>
              <a:srgbClr val="5A6478"/>
            </a:solidFill>
            <a:prstDash val="solid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10652760" y="327355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→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143000" y="1965960"/>
            <a:ext cx="4206240" cy="457200"/>
          </a:xfrm>
          <a:prstGeom prst="roundRect">
            <a:avLst>
              <a:gd name="adj" fmla="val 12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97864" y="1965960"/>
            <a:ext cx="4096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A · processing (v2.1 → lake → 9 hydrated → 13 v1 ∥ CBS-A)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349240" y="1920240"/>
            <a:ext cx="0" cy="1325880"/>
          </a:xfrm>
          <a:prstGeom prst="line">
            <a:avLst/>
          </a:prstGeom>
          <a:noFill/>
          <a:ln w="19050">
            <a:solidFill>
              <a:srgbClr val="028090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4663440" y="28803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⇒ release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423160" y="2514600"/>
            <a:ext cx="29260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B7791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78024" y="2514600"/>
            <a:ext cx="2816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B · QUEUED_BEHIND_PRIOR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394960" y="2514600"/>
            <a:ext cx="3931920" cy="45720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49824" y="2514600"/>
            <a:ext cx="3822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B · processing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423160" y="29992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arrives while A in flight — accepted, held, never concurrent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02920" y="3794760"/>
            <a:ext cx="3611880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D4DCEC"/>
            </a:solidFill>
            <a:prstDash val="solid"/>
          </a:ln>
          <a:effectLst>
            <a:outerShdw sx="100000" sy="100000" kx="0" ky="0" algn="bl" rotWithShape="0" blurRad="76200" dist="25400" dir="5400000">
              <a:srgbClr val="222A44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67512" y="3959352"/>
            <a:ext cx="2011680" cy="365760"/>
          </a:xfrm>
          <a:prstGeom prst="roundRect">
            <a:avLst>
              <a:gd name="adj" fmla="val 15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2376" y="3959352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at acceptance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85800" y="4407408"/>
            <a:ext cx="3246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event ⇒ QUEUED_BEHIND_PRIOR if any event for the same clientId is non-terminal. Per-client Postgres advisory lock — concurrent POSTs can't both pass; other clients never contend.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279392" y="3794760"/>
            <a:ext cx="3611880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D4DCEC"/>
            </a:solidFill>
            <a:prstDash val="solid"/>
          </a:ln>
          <a:effectLst>
            <a:outerShdw sx="100000" sy="100000" kx="0" ky="0" algn="bl" rotWithShape="0" blurRad="76200" dist="25400" dir="5400000">
              <a:srgbClr val="222A44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443984" y="3959352"/>
            <a:ext cx="2011680" cy="365760"/>
          </a:xfrm>
          <a:prstGeom prst="roundRect">
            <a:avLst>
              <a:gd name="adj" fmla="val 15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98848" y="3959352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release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462272" y="4407408"/>
            <a:ext cx="3246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transaction that terminates event N promotes the next queued event (clientSequence order, else arrival). No instant with two live events per client. FAILED holds the queue until ops replay / supersede.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055864" y="3794760"/>
            <a:ext cx="3611880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D4DCEC"/>
            </a:solidFill>
            <a:prstDash val="solid"/>
          </a:ln>
          <a:effectLst>
            <a:outerShdw sx="100000" sy="100000" kx="0" ky="0" algn="bl" rotWithShape="0" blurRad="76200" dist="25400" dir="5400000">
              <a:srgbClr val="222A44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220456" y="3959352"/>
            <a:ext cx="2011680" cy="365760"/>
          </a:xfrm>
          <a:prstGeom prst="roundRect">
            <a:avLst>
              <a:gd name="adj" fmla="val 15000"/>
            </a:avLst>
          </a:prstGeom>
          <a:solidFill>
            <a:srgbClr val="2A3780"/>
          </a:solidFill>
          <a:ln w="12700">
            <a:solidFill>
              <a:srgbClr val="2A378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75320" y="3959352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orchestrator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238744" y="4407408"/>
            <a:ext cx="3246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it knows true terminality — retries, dead-letters, replays hours later. Onboarding-side throttling = optional defense-in-depth, not the control. Every hold/release audited; recon attests ordering.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02920" y="626364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to Onboarding: </a:t>
            </a:r>
            <a:pPr indent="0" marL="0">
              <a:buNone/>
            </a:pPr>
            <a:r>
              <a:rPr lang="en-US" sz="11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a monotonic per-client clientSequence at approval — upgrades ordering from arrival-based to semantically exact and makes gaps detectable (SEQUENCE_GAP alert).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v2→v1 Orchestration · Architecture Review · v1.3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 Handling &amp; Retries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96112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Postgres-driven: backoff is a column, dead-letter is a table — all of it queryable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112014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2011680"/>
                <a:gridCol w="777240"/>
                <a:gridCol w="557784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/ job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Backoff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exhaustion / permanent error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Publish lake v2.1 / v1 (per schema)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1s → 2s → 4s … cap 5 min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DEAD job → dead_letter row → FAILED_&lt;STAGE&gt; → page. One bad schema never blocks the other 8 / 12.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Journal confirm (async lake only)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5s → cap 2 min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(~1h)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MISSING_JOURNAL_V21 — case never hydrates on partial confirmation.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Hydration (lake reads)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30s → cap 15 min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(~2h)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 cap absorbs lake read lag; persistent journal mismatch ⇒ JOURNAL_UNKNOWN_TO_LAKE.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transient infra only: 3 × 10s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Deterministic rule/data errors dead-letter on first attempt — fix rules or data, then replay.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CBS-A publish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2s → cap 10 min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Fully independent of the v1 lake leg — partial states V1_DONE_CBS_PENDING visible.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t">
                    <a:lnL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4709160"/>
            <a:ext cx="361188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4DCEC"/>
            </a:solidFill>
            <a:prstDash val="solid"/>
          </a:ln>
          <a:effectLst>
            <a:outerShdw sx="100000" sy="100000" kx="0" ky="0" algn="bl" rotWithShape="0" blurRad="76200" dist="25400" dir="5400000">
              <a:srgbClr val="222A44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67512" y="4855464"/>
            <a:ext cx="1600200" cy="347472"/>
          </a:xfrm>
          <a:prstGeom prst="roundRect">
            <a:avLst>
              <a:gd name="adj" fmla="val 15789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22376" y="4855464"/>
            <a:ext cx="1490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breakers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85800" y="5266944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breakers per integration (lake ingest, lake read, CBS-A). While open, jobs push next_attempt_at forward — a 2-hour lake outage burns zero retry budget. Bulkheads keep a slow lake from stalling the ingestion API.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279392" y="4709160"/>
            <a:ext cx="361188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4DCEC"/>
            </a:solidFill>
            <a:prstDash val="solid"/>
          </a:ln>
          <a:effectLst>
            <a:outerShdw sx="100000" sy="100000" kx="0" ky="0" algn="bl" rotWithShape="0" blurRad="76200" dist="25400" dir="5400000">
              <a:srgbClr val="222A44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43984" y="4855464"/>
            <a:ext cx="1600200" cy="347472"/>
          </a:xfrm>
          <a:prstGeom prst="roundRect">
            <a:avLst>
              <a:gd name="adj" fmla="val 1578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498848" y="4855464"/>
            <a:ext cx="1490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Lease + reaper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462272" y="5266944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carry a 10-min lease; a per-instance reaper requeues work orphaned by a crashed VM. Safe because every stage is idempotent and resumes from persisted stage payloads.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8055864" y="4709160"/>
            <a:ext cx="361188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4DCEC"/>
            </a:solidFill>
            <a:prstDash val="solid"/>
          </a:ln>
          <a:effectLst>
            <a:outerShdw sx="100000" sy="100000" kx="0" ky="0" algn="bl" rotWithShape="0" blurRad="76200" dist="25400" dir="5400000">
              <a:srgbClr val="222A44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220456" y="4855464"/>
            <a:ext cx="1600200" cy="347472"/>
          </a:xfrm>
          <a:prstGeom prst="roundRect">
            <a:avLst>
              <a:gd name="adj" fmla="val 15789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75320" y="4855464"/>
            <a:ext cx="1490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Replay, not rerun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8238744" y="5266944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replay from any stage (POST …/replay?fromStage=…): audited, reason mandatory. Re-ingestion yields fresh journalIds that supersede the old — always safe.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v2→v1 Orchestration · Architecture Review · v1.3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Failure Scenario Walkthrough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96112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credible failure point has a defined outcome — zero data loss, ordering preserved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1120140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6035040"/>
                <a:gridCol w="1600200"/>
              </a:tblGrid>
              <a:tr h="4050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Behavior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050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Orchestrator down when Onboarding calls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Caller gets timeout/5xx, retries per contract until 202 — nothing half-committed.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loss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50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Crash right after 202 committed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 + jobs already in Postgres; any surviving instance's workers resume.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loss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50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Lake ingest API down for hours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Jobs cycle RETRY_WAIT, breaker opens, inbound API keeps accepting (Postgres buffers).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loss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50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Lake accepts 5 of 7 sent schemas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jobs retry then dead-letter MISSING_JOURNAL_V21 — no conversion on partial data.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Blocked safely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50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Lake read lags ingest during hydration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Served journalId ≠ recorded ⇒ back off, re-read until aligned.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Self-heals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50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Conversion fails on bad data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Immediate dead-letter with schema/field context; fix + replay from CONVERT.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loss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50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CBS-A down for hours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 lake leg completes; V1_DONE_CBS_PENDING; CBS leg retries on its own budget.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Legs isolated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50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 2 (client 1) arrives while case 1 in flight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Queued behind prior; released the instant case 1 is terminal — never concurrent.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50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Events arrive out of order (seq 7 before 6)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 accepted; 7 held until 6 arrives + completes; SEQUENCE_GAP alert if 6 never comes.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50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 1 (client 1) dead-letters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1's queue holds by design; ops replay/supersede releases; other clients unaffected.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507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VM dies mid-job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Lease lapses ⇒ reaper requeues on survivor; LB routes API traffic away.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loss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v2→v1 Orchestration · Architecture Review · v1.3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Tracking &amp; Observability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96112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journalId lineage per case + Micrometer metrics + React ops dashboard on the same tables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611880" cy="475488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 w="12700">
            <a:solidFill>
              <a:srgbClr val="D4DCEC"/>
            </a:solidFill>
            <a:prstDash val="solid"/>
          </a:ln>
          <a:effectLst>
            <a:outerShdw sx="100000" sy="100000" kx="0" ky="0" algn="bl" rotWithShape="0" blurRad="76200" dist="25400" dir="5400000">
              <a:srgbClr val="222A44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417320"/>
            <a:ext cx="361188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57784" y="1417320"/>
            <a:ext cx="3502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Lineage &amp; audit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04088" y="2057400"/>
            <a:ext cx="32461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correlationId on every DB row, log line, lake call, CBS-A message</a:t>
            </a:r>
            <a:endParaRPr lang="en-US" sz="105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lake_journal per case: 9 journalIds in (with hydration source) + 13 out — the audit evidence chain</a:t>
            </a:r>
            <a:endParaRPr lang="en-US" sz="105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audit of every state change, retry, hold/release, ops action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79392" y="1417320"/>
            <a:ext cx="3611880" cy="475488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 w="12700">
            <a:solidFill>
              <a:srgbClr val="D4DCEC"/>
            </a:solidFill>
            <a:prstDash val="solid"/>
          </a:ln>
          <a:effectLst>
            <a:outerShdw sx="100000" sy="100000" kx="0" ky="0" algn="bl" rotWithShape="0" blurRad="76200" dist="25400" dir="5400000">
              <a:srgbClr val="222A44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279392" y="1417320"/>
            <a:ext cx="3611880" cy="502920"/>
          </a:xfrm>
          <a:prstGeom prst="roundRect">
            <a:avLst>
              <a:gd name="adj" fmla="val 10909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34256" y="1417320"/>
            <a:ext cx="3502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&amp; alerts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480560" y="2057400"/>
            <a:ext cx="32461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depth + oldest-pending-job age (the 'lag' of a Postgres queue)</a:t>
            </a:r>
            <a:endParaRPr lang="en-US" sz="105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by status incl. QUEUED_BEHIND_PRIOR per client; stage durations; end-to-end p95</a:t>
            </a:r>
            <a:endParaRPr lang="en-US" sz="105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DEFAULTED-hydration spike = early warning of upstream data gaps</a:t>
            </a:r>
            <a:endParaRPr lang="en-US" sz="105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Pages: any dead-letter · SEQUENCE_GAP · breaker open &gt; 5 min · queue past SLA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55864" y="1417320"/>
            <a:ext cx="3611880" cy="475488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 w="12700">
            <a:solidFill>
              <a:srgbClr val="D4DCEC"/>
            </a:solidFill>
            <a:prstDash val="solid"/>
          </a:ln>
          <a:effectLst>
            <a:outerShdw sx="100000" sy="100000" kx="0" ky="0" algn="bl" rotWithShape="0" blurRad="76200" dist="25400" dir="5400000">
              <a:srgbClr val="222A44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55864" y="1417320"/>
            <a:ext cx="3611880" cy="502920"/>
          </a:xfrm>
          <a:prstGeom prst="roundRect">
            <a:avLst>
              <a:gd name="adj" fmla="val 10909"/>
            </a:avLst>
          </a:prstGeom>
          <a:solidFill>
            <a:srgbClr val="2A3780"/>
          </a:solidFill>
          <a:ln w="12700">
            <a:solidFill>
              <a:srgbClr val="2A37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10728" y="1417320"/>
            <a:ext cx="3502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dashboard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57032" y="2057400"/>
            <a:ext cx="32461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search by caseId / clientId / correlationId / journalId with stage timeline</a:t>
            </a:r>
            <a:endParaRPr lang="en-US" sz="105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event chain view — the ordering guarantee, visualized</a:t>
            </a:r>
            <a:endParaRPr lang="en-US" sz="105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9-schema and 13-schema grids: sent?, journalId, confirmed-at, source</a:t>
            </a:r>
            <a:endParaRPr lang="en-US" sz="105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Dead-letter inventory with audited replay / force-release (operator role)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v2→v1 Orchestration · Architecture Review · v1.3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Reconciliation — Three Layers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96112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answered: 9 journalIds in, 13 out, one CBS-A delivery — exactly once, in client order?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201400" cy="138988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D4DCEC"/>
            </a:solidFill>
            <a:prstDash val="solid"/>
          </a:ln>
          <a:effectLst>
            <a:outerShdw sx="100000" sy="100000" kx="0" ky="0" algn="bl" rotWithShape="0" blurRad="76200" dist="25400" dir="5400000">
              <a:srgbClr val="222A44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572768"/>
            <a:ext cx="3108960" cy="384048"/>
          </a:xfrm>
          <a:prstGeom prst="roundRect">
            <a:avLst>
              <a:gd name="adj" fmla="val 14286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" y="1572768"/>
            <a:ext cx="2999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Continuous (in-flow)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13232" y="2020824"/>
            <a:ext cx="10789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reconciles itself in real time: no LAKE_CONFIRMED without all sent journalIds; hydration proves the lake serves them; completion needs 13 v1 journalIds + CBS ack; the sequencer proves ordering. Gaps surface in minutes as dead letters.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2920" y="2953512"/>
            <a:ext cx="11201400" cy="138988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D4DCEC"/>
            </a:solidFill>
            <a:prstDash val="solid"/>
          </a:ln>
          <a:effectLst>
            <a:outerShdw sx="100000" sy="100000" kx="0" ky="0" algn="bl" rotWithShape="0" blurRad="76200" dist="25400" dir="5400000">
              <a:srgbClr val="222A44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85800" y="3108960"/>
            <a:ext cx="3108960" cy="384048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0664" y="3108960"/>
            <a:ext cx="2999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Batch (hourly + EOD, overlap window)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13232" y="3557016"/>
            <a:ext cx="10789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Onboarding manifest vs accepted cases (catches lost handoffs)  ② every v2.1 journalId verified with the lake  ③ every v1 journalId verified  ④ CBS-A ack feed matched  ⑤ orphan lake entries flagged  ⑥ ordering attestation: no two events per client ever concurrently live.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4489704"/>
            <a:ext cx="11201400" cy="138988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D4DCEC"/>
            </a:solidFill>
            <a:prstDash val="solid"/>
          </a:ln>
          <a:effectLst>
            <a:outerShdw sx="100000" sy="100000" kx="0" ky="0" algn="bl" rotWithShape="0" blurRad="76200" dist="25400" dir="5400000">
              <a:srgbClr val="222A44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85800" y="4645152"/>
            <a:ext cx="3108960" cy="384048"/>
          </a:xfrm>
          <a:prstGeom prst="roundRect">
            <a:avLst>
              <a:gd name="adj" fmla="val 14286"/>
            </a:avLst>
          </a:prstGeom>
          <a:solidFill>
            <a:srgbClr val="2A3780"/>
          </a:solidFill>
          <a:ln w="12700">
            <a:solidFill>
              <a:srgbClr val="2A37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0664" y="4645152"/>
            <a:ext cx="2999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Remediation &amp; report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13232" y="5093208"/>
            <a:ext cx="10789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Allow-listed findings auto-replay just the missing leg (AUTO_REPLAYED); everything else stays OPEN for ops in the dashboard. EOD emits the signed-off daily report — cases in, journalIds per leg, CBS deliveries, ordering exceptions, open findings — the migration programme's audit artifact.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6035040"/>
            <a:ext cx="11201400" cy="502920"/>
          </a:xfrm>
          <a:prstGeom prst="roundRect">
            <a:avLst>
              <a:gd name="adj" fmla="val 10909"/>
            </a:avLst>
          </a:prstGeom>
          <a:solidFill>
            <a:srgbClr val="E8F0FE"/>
          </a:solidFill>
          <a:ln w="12700">
            <a:solidFill>
              <a:srgbClr val="D4DC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603504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types:  </a:t>
            </a:r>
            <a:pPr indent="0" marL="0">
              <a:buNone/>
            </a:pPr>
            <a:r>
              <a:rPr lang="en-US" sz="10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MISSING_ORCHESTRATION · MISSING_JOURNAL_V21 / _V1 · JOURNAL_UNKNOWN_TO_LAKE · CBS_NOT_DELIVERED · ORPHAN_IN_LAKE · SEQUENCE_GAP · STUCK_STATE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v2→v1 Orchestration · Architecture Review · v1.3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Topology — VMs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96112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active-active instances, no broker to operate; Postgres HA is the backbone (its RPO = service RPO)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2743200"/>
            <a:ext cx="1554480" cy="82296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25400" dir="5400000">
              <a:srgbClr val="222A44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57784" y="2743200"/>
            <a:ext cx="1444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v2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606040" y="2743200"/>
            <a:ext cx="1463040" cy="822960"/>
          </a:xfrm>
          <a:prstGeom prst="roundRect">
            <a:avLst>
              <a:gd name="adj" fmla="val 6667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5400000">
              <a:srgbClr val="222A44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660904" y="2743200"/>
            <a:ext cx="13533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 / VIP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health-gated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057400" y="3154680"/>
            <a:ext cx="548640" cy="0"/>
          </a:xfrm>
          <a:prstGeom prst="line">
            <a:avLst/>
          </a:prstGeom>
          <a:noFill/>
          <a:ln w="22225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663440" y="1645920"/>
            <a:ext cx="3017520" cy="1691640"/>
          </a:xfrm>
          <a:prstGeom prst="roundRect">
            <a:avLst>
              <a:gd name="adj" fmla="val 3243"/>
            </a:avLst>
          </a:prstGeom>
          <a:solidFill>
            <a:srgbClr val="E8F0FE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17190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1  (Linux, systemd)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28032" y="2057400"/>
            <a:ext cx="132588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82896" y="2057400"/>
            <a:ext cx="1216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 JAR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63640" y="2057400"/>
            <a:ext cx="1325880" cy="502920"/>
          </a:xfrm>
          <a:prstGeom prst="roundRect">
            <a:avLst>
              <a:gd name="adj" fmla="val 10909"/>
            </a:avLst>
          </a:prstGeom>
          <a:solidFill>
            <a:srgbClr val="2A3780"/>
          </a:solidFill>
          <a:ln w="12700">
            <a:solidFill>
              <a:srgbClr val="2A37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2057400"/>
            <a:ext cx="1216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(React + /api)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828032" y="267004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workers · pollers · exporters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 flipV="1">
            <a:off x="4069080" y="2468880"/>
            <a:ext cx="594360" cy="685800"/>
          </a:xfrm>
          <a:prstGeom prst="line">
            <a:avLst/>
          </a:prstGeom>
          <a:noFill/>
          <a:ln w="22225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663440" y="3977640"/>
            <a:ext cx="3017520" cy="1691640"/>
          </a:xfrm>
          <a:prstGeom prst="roundRect">
            <a:avLst>
              <a:gd name="adj" fmla="val 3243"/>
            </a:avLst>
          </a:prstGeom>
          <a:solidFill>
            <a:srgbClr val="E8F0FE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40507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2  (Linux, systemd)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28032" y="4389120"/>
            <a:ext cx="132588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82896" y="4389120"/>
            <a:ext cx="1216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 JAR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263640" y="4389120"/>
            <a:ext cx="1325880" cy="502920"/>
          </a:xfrm>
          <a:prstGeom prst="roundRect">
            <a:avLst>
              <a:gd name="adj" fmla="val 10909"/>
            </a:avLst>
          </a:prstGeom>
          <a:solidFill>
            <a:srgbClr val="2A3780"/>
          </a:solidFill>
          <a:ln w="12700">
            <a:solidFill>
              <a:srgbClr val="2A37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18504" y="4389120"/>
            <a:ext cx="1216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(React + /api)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828032" y="500176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workers · pollers · exporters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069080" y="3154680"/>
            <a:ext cx="594360" cy="1645920"/>
          </a:xfrm>
          <a:prstGeom prst="line">
            <a:avLst/>
          </a:prstGeom>
          <a:noFill/>
          <a:ln w="22225">
            <a:solidFill>
              <a:srgbClr val="028090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321040" y="2606040"/>
            <a:ext cx="192024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25400" dir="5400000">
              <a:srgbClr val="222A44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375904" y="2606040"/>
            <a:ext cx="18105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HA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PITR backups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Flyway on startup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680960" y="2468880"/>
            <a:ext cx="640080" cy="548640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 flipV="1">
            <a:off x="7680960" y="3429000"/>
            <a:ext cx="640080" cy="1417320"/>
          </a:xfrm>
          <a:prstGeom prst="line">
            <a:avLst/>
          </a:prstGeom>
          <a:noFill/>
          <a:ln w="22225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10607040" y="2331720"/>
            <a:ext cx="1234440" cy="731520"/>
          </a:xfrm>
          <a:prstGeom prst="roundRect">
            <a:avLst>
              <a:gd name="adj" fmla="val 75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661904" y="2331720"/>
            <a:ext cx="1124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Lake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(REST)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0607040" y="3291840"/>
            <a:ext cx="1234440" cy="731520"/>
          </a:xfrm>
          <a:prstGeom prst="roundRect">
            <a:avLst>
              <a:gd name="adj" fmla="val 7500"/>
            </a:avLst>
          </a:prstGeom>
          <a:solidFill>
            <a:srgbClr val="2A3780"/>
          </a:solidFill>
          <a:ln w="12700">
            <a:solidFill>
              <a:srgbClr val="2A378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661904" y="3291840"/>
            <a:ext cx="1124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CBS-A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(REST)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680960" y="2103120"/>
            <a:ext cx="2926080" cy="502920"/>
          </a:xfrm>
          <a:prstGeom prst="line">
            <a:avLst/>
          </a:prstGeom>
          <a:noFill/>
          <a:ln w="22225">
            <a:solidFill>
              <a:srgbClr val="5A6478"/>
            </a:solidFill>
            <a:prstDash val="dash"/>
            <a:tailEnd type="triangle"/>
          </a:ln>
        </p:spPr>
      </p:sp>
      <p:sp>
        <p:nvSpPr>
          <p:cNvPr id="34" name="Shape 32"/>
          <p:cNvSpPr/>
          <p:nvPr/>
        </p:nvSpPr>
        <p:spPr>
          <a:xfrm flipV="1">
            <a:off x="7680960" y="3749040"/>
            <a:ext cx="2926080" cy="822960"/>
          </a:xfrm>
          <a:prstGeom prst="line">
            <a:avLst/>
          </a:prstGeom>
          <a:noFill/>
          <a:ln w="22225">
            <a:solidFill>
              <a:srgbClr val="5A6478"/>
            </a:solidFill>
            <a:prstDash val="dash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502920" y="5623560"/>
            <a:ext cx="36118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4DCE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5687568"/>
            <a:ext cx="3337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Coordination:  </a:t>
            </a:r>
            <a:pPr indent="0" marL="0">
              <a:buNone/>
            </a:pPr>
            <a:r>
              <a:rPr lang="en-US" sz="9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Kafka-free: LB spreads API traffic; SKIP LOCKED + job leases spread workers; ShedLock keeps recon / stuck-state / sequencer promoter singleton.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279392" y="5623560"/>
            <a:ext cx="36118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4DCE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416552" y="5687568"/>
            <a:ext cx="3337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deploys:  </a:t>
            </a:r>
            <a:pPr indent="0" marL="0">
              <a:buNone/>
            </a:pPr>
            <a:r>
              <a:rPr lang="en-US" sz="9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Drain at LB → leased jobs finish or lapse → deploy → rejoin. Safe: every unit of work resumes from Postgres.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055864" y="5623560"/>
            <a:ext cx="36118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4DCE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193024" y="5687568"/>
            <a:ext cx="3337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Hygiene &amp; sizing:  </a:t>
            </a:r>
            <a:pPr indent="0" marL="0">
              <a:buNone/>
            </a:pPr>
            <a:r>
              <a:rPr lang="en-US" sz="9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Purge job rows &gt; N days (audit + lake_journal are the permanent record). 4 vCPU / 8 GB pair is ample at onboarding volumes.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v2→v1 Orchestration · Architecture Review · v1.3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Decisions &amp; Confirmations Needed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 from this review and the partner teams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10927080" cy="1005840"/>
          </a:xfrm>
          <a:prstGeom prst="roundRect">
            <a:avLst>
              <a:gd name="adj" fmla="val 5455"/>
            </a:avLst>
          </a:prstGeom>
          <a:solidFill>
            <a:srgbClr val="2A3780"/>
          </a:solidFill>
          <a:ln w="12700">
            <a:solidFill>
              <a:srgbClr val="2A37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7099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Onboarding System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840480" y="1709928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Retry-until-202 contract (ideally outbox-driven) + approved-cases manifest API for recon</a:t>
            </a:r>
            <a:endParaRPr lang="en-US" sz="110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monotonic per-client clientSequence at approval (strongly recommended)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734056"/>
            <a:ext cx="10927080" cy="1005840"/>
          </a:xfrm>
          <a:prstGeom prst="roundRect">
            <a:avLst>
              <a:gd name="adj" fmla="val 5455"/>
            </a:avLst>
          </a:prstGeom>
          <a:solidFill>
            <a:srgbClr val="2A3780"/>
          </a:solidFill>
          <a:ln w="12700">
            <a:solidFill>
              <a:srgbClr val="2A37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84378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Lake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840480" y="2843784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journalId sync on ingest 202, or async via status-poll? Journal-lookup API for recon?</a:t>
            </a:r>
            <a:endParaRPr lang="en-US" sz="110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API returns serving journalId? Typical ingest→readable lag? Client dedupe key supported?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3867912"/>
            <a:ext cx="10927080" cy="1005840"/>
          </a:xfrm>
          <a:prstGeom prst="roundRect">
            <a:avLst>
              <a:gd name="adj" fmla="val 5455"/>
            </a:avLst>
          </a:prstGeom>
          <a:solidFill>
            <a:srgbClr val="2A3780"/>
          </a:solidFill>
          <a:ln w="12700">
            <a:solidFill>
              <a:srgbClr val="2A37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9776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CBS-A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840480" y="397764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confirmation (REST assumed; MQ/file changes only the adapter)</a:t>
            </a:r>
            <a:endParaRPr lang="en-US" sz="110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 / receipt feed availability for recon matching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5001768"/>
            <a:ext cx="10927080" cy="1371600"/>
          </a:xfrm>
          <a:prstGeom prst="roundRect">
            <a:avLst>
              <a:gd name="adj" fmla="val 4000"/>
            </a:avLst>
          </a:prstGeom>
          <a:solidFill>
            <a:srgbClr val="2A3780"/>
          </a:solidFill>
          <a:ln w="12700">
            <a:solidFill>
              <a:srgbClr val="2A37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511149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B8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/ EA rulings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840480" y="5111496"/>
            <a:ext cx="7498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Failed-event policy: hold the client's queue until ops resolve (default) vs skip-ahead</a:t>
            </a:r>
            <a:endParaRPr lang="en-US" sz="110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Per-schema default structures for never-seen schemas (DEFAULTED hydration)</a:t>
            </a:r>
            <a:endParaRPr lang="en-US" sz="110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SLAs: journal-confirm budget, queue-hold escalation, end-to-end p95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647395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low-level design (v1.3) accompanies this deck — state machine, DDL, retry matrix, recon procedures.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2026-07-28T08:43:50Z</dcterms:created>
  <dcterms:modified xsi:type="dcterms:W3CDTF">2026-07-28T08:43:50Z</dcterms:modified>
</cp:coreProperties>
</file>